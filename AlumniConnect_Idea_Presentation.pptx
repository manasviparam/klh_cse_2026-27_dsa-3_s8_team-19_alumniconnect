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60A6474-AB57-44B5-874D-F495F52FABA1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AE992A-A48C-4174-B132-5B08FB7DBC4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B56956-30B0-4C02-B16D-C6F21E93754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26C434-022B-4CD6-8C08-4B1CB2BD45B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290C03-3982-47C6-92DD-0E9CE557C6C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9A6450-D4BC-49E4-8C5E-FAF0E5CAD76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AA788F-6884-432C-9CAB-3ABB86D5433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 flipV="1">
            <a:off x="8060400" y="1783080"/>
            <a:ext cx="982800" cy="16002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8060400" y="3383280"/>
            <a:ext cx="982800" cy="16002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9043200" y="1783080"/>
            <a:ext cx="983160" cy="13716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 flipV="1">
            <a:off x="9043200" y="3154680"/>
            <a:ext cx="983160" cy="18288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 flipV="1">
            <a:off x="10026360" y="1554480"/>
            <a:ext cx="904320" cy="16002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0026360" y="3154680"/>
            <a:ext cx="904320" cy="4572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10930680" y="1554480"/>
            <a:ext cx="865080" cy="9144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 flipV="1">
            <a:off x="10930680" y="2468880"/>
            <a:ext cx="865080" cy="11430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10930680" y="3611880"/>
            <a:ext cx="865080" cy="13716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11795760" y="2468880"/>
            <a:ext cx="360" cy="25146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7992000" y="33148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974800" y="17146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974800" y="49150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9925920" y="3054240"/>
            <a:ext cx="200880" cy="200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0862280" y="14860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10862280" y="35434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11695320" y="2368440"/>
            <a:ext cx="200880" cy="200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11727360" y="49150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 flipV="1">
            <a:off x="8622720" y="603360"/>
            <a:ext cx="594360" cy="768240"/>
          </a:xfrm>
          <a:prstGeom prst="line">
            <a:avLst/>
          </a:prstGeom>
          <a:ln w="15875">
            <a:solidFill>
              <a:srgbClr val="F2A541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8622720" y="1371600"/>
            <a:ext cx="594360" cy="767880"/>
          </a:xfrm>
          <a:prstGeom prst="line">
            <a:avLst/>
          </a:prstGeom>
          <a:ln w="15875">
            <a:solidFill>
              <a:srgbClr val="F2A541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9217080" y="603360"/>
            <a:ext cx="594360" cy="658440"/>
          </a:xfrm>
          <a:prstGeom prst="line">
            <a:avLst/>
          </a:prstGeom>
          <a:ln w="15875">
            <a:solidFill>
              <a:srgbClr val="F2A541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 flipV="1">
            <a:off x="9217080" y="1261800"/>
            <a:ext cx="594360" cy="877680"/>
          </a:xfrm>
          <a:prstGeom prst="line">
            <a:avLst/>
          </a:prstGeom>
          <a:ln w="15875">
            <a:solidFill>
              <a:srgbClr val="F2A541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 flipV="1">
            <a:off x="9811440" y="493560"/>
            <a:ext cx="546840" cy="768240"/>
          </a:xfrm>
          <a:prstGeom prst="line">
            <a:avLst/>
          </a:prstGeom>
          <a:ln w="15875">
            <a:solidFill>
              <a:srgbClr val="F2A541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9811440" y="1261800"/>
            <a:ext cx="546840" cy="219240"/>
          </a:xfrm>
          <a:prstGeom prst="line">
            <a:avLst/>
          </a:prstGeom>
          <a:ln w="15875">
            <a:solidFill>
              <a:srgbClr val="F2A541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10358280" y="493560"/>
            <a:ext cx="523080" cy="438840"/>
          </a:xfrm>
          <a:prstGeom prst="line">
            <a:avLst/>
          </a:prstGeom>
          <a:ln w="15875">
            <a:solidFill>
              <a:srgbClr val="F2A541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 flipV="1">
            <a:off x="10358280" y="932400"/>
            <a:ext cx="523080" cy="548640"/>
          </a:xfrm>
          <a:prstGeom prst="line">
            <a:avLst/>
          </a:prstGeom>
          <a:ln w="15875">
            <a:solidFill>
              <a:srgbClr val="F2A541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10358280" y="1481040"/>
            <a:ext cx="523080" cy="658440"/>
          </a:xfrm>
          <a:prstGeom prst="line">
            <a:avLst/>
          </a:prstGeom>
          <a:ln w="15875">
            <a:solidFill>
              <a:srgbClr val="F2A541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10881360" y="932400"/>
            <a:ext cx="360" cy="1207080"/>
          </a:xfrm>
          <a:prstGeom prst="line">
            <a:avLst/>
          </a:prstGeom>
          <a:ln w="15875">
            <a:solidFill>
              <a:srgbClr val="F2A541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8554320" y="1303200"/>
            <a:ext cx="136800" cy="1368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9148680" y="534960"/>
            <a:ext cx="136800" cy="1368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9148680" y="2071080"/>
            <a:ext cx="136800" cy="1368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9711000" y="1161360"/>
            <a:ext cx="200880" cy="20088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10289880" y="425160"/>
            <a:ext cx="136800" cy="1368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10289880" y="1412640"/>
            <a:ext cx="136800" cy="1368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10780920" y="831960"/>
            <a:ext cx="200880" cy="20088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10812960" y="2071080"/>
            <a:ext cx="136800" cy="13680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640080" y="14173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199" dirty="0">
                <a:solidFill>
                  <a:srgbClr val="1C7293"/>
                </a:solidFill>
                <a:latin typeface="Calibri"/>
                <a:ea typeface="Calibri"/>
              </a:rPr>
              <a:t>B.TECH — DSA III MINI PROJECT</a:t>
            </a:r>
            <a:endParaRPr lang="en-US" sz="13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594360" y="1874520"/>
            <a:ext cx="749772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1">
                <a:solidFill>
                  <a:srgbClr val="FFFFFF"/>
                </a:solidFill>
                <a:latin typeface="Cambria"/>
                <a:ea typeface="Cambria"/>
              </a:rPr>
              <a:t>Alumni Connect</a:t>
            </a:r>
            <a:endParaRPr lang="en-US" sz="5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640080" y="3063240"/>
            <a:ext cx="6949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EAF2F8"/>
                </a:solidFill>
                <a:latin typeface="Calibri"/>
                <a:ea typeface="Calibri"/>
              </a:rPr>
              <a:t>A DSA-powered console application for discovering and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EAF2F8"/>
                </a:solidFill>
                <a:latin typeface="Calibri"/>
                <a:ea typeface="Calibri"/>
              </a:rPr>
              <a:t>connecting with college alumni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658440" y="3977640"/>
            <a:ext cx="82080" cy="8208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868680" y="39135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1C7293"/>
                </a:solidFill>
                <a:latin typeface="Calibri"/>
                <a:ea typeface="Calibri"/>
              </a:rPr>
              <a:t>Java  •  Console-Based  •  No Database  •  No GUI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740520" y="576072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strike="noStrike" spc="-1" dirty="0">
                <a:solidFill>
                  <a:srgbClr val="FFFFFF"/>
                </a:solidFill>
                <a:latin typeface="Calibri"/>
                <a:ea typeface="Calibri"/>
              </a:rPr>
              <a:t>Presented by: </a:t>
            </a:r>
            <a:r>
              <a:rPr lang="en-US" sz="1400" strike="noStrike" spc="-1" dirty="0">
                <a:solidFill>
                  <a:srgbClr val="EAF2F8"/>
                </a:solidFill>
                <a:latin typeface="Calibri"/>
                <a:ea typeface="Calibri"/>
              </a:rPr>
              <a:t>Param Manasvi </a:t>
            </a:r>
            <a:br>
              <a:rPr lang="en-US" sz="1400" strike="noStrike" spc="-1" dirty="0">
                <a:solidFill>
                  <a:srgbClr val="EAF2F8"/>
                </a:solidFill>
                <a:latin typeface="Calibri"/>
                <a:ea typeface="Calibri"/>
              </a:rPr>
            </a:br>
            <a:r>
              <a:rPr lang="en-US" sz="1400" strike="noStrike" spc="-1" dirty="0">
                <a:solidFill>
                  <a:srgbClr val="EAF2F8"/>
                </a:solidFill>
                <a:latin typeface="Calibri"/>
                <a:ea typeface="Calibri"/>
              </a:rPr>
              <a:t>                          Burla Vida Swetha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spc="-1" dirty="0">
                <a:solidFill>
                  <a:srgbClr val="EAF2F8"/>
                </a:solidFill>
                <a:latin typeface="Calibri"/>
                <a:ea typeface="Calibri"/>
              </a:rPr>
              <a:t>                          M.V.L . Samhita </a:t>
            </a:r>
          </a:p>
        </p:txBody>
      </p:sp>
      <p:sp>
        <p:nvSpPr>
          <p:cNvPr id="50" name="Text 42"/>
          <p:cNvSpPr/>
          <p:nvPr/>
        </p:nvSpPr>
        <p:spPr>
          <a:xfrm>
            <a:off x="640080" y="610812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640080" y="64191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1C7293"/>
                </a:solidFill>
                <a:latin typeface="Calibri"/>
                <a:ea typeface="Calibri"/>
              </a:rPr>
              <a:t>[Department of Computer Science • College Name]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3657240" cy="6857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"/>
          <p:cNvSpPr/>
          <p:nvPr/>
        </p:nvSpPr>
        <p:spPr>
          <a:xfrm flipV="1">
            <a:off x="429480" y="4535280"/>
            <a:ext cx="777240" cy="76824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429480" y="5303520"/>
            <a:ext cx="777240" cy="76788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1206720" y="4535280"/>
            <a:ext cx="777240" cy="65844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 flipV="1">
            <a:off x="1206720" y="5193720"/>
            <a:ext cx="777240" cy="87768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 flipV="1">
            <a:off x="1983960" y="4425480"/>
            <a:ext cx="715320" cy="76824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1983960" y="5193720"/>
            <a:ext cx="715320" cy="21924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2699280" y="4425480"/>
            <a:ext cx="684000" cy="43884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 flipV="1">
            <a:off x="2699280" y="4864320"/>
            <a:ext cx="684000" cy="54864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2699280" y="5412960"/>
            <a:ext cx="684000" cy="65844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3383280" y="4864320"/>
            <a:ext cx="360" cy="120708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1"/>
          <p:cNvSpPr/>
          <p:nvPr/>
        </p:nvSpPr>
        <p:spPr>
          <a:xfrm>
            <a:off x="361080" y="523512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1138320" y="44668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1138320" y="600300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1883520" y="5093280"/>
            <a:ext cx="200880" cy="200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5"/>
          <p:cNvSpPr/>
          <p:nvPr/>
        </p:nvSpPr>
        <p:spPr>
          <a:xfrm>
            <a:off x="2630880" y="43570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2630880" y="534456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3282840" y="4763880"/>
            <a:ext cx="200880" cy="200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8"/>
          <p:cNvSpPr/>
          <p:nvPr/>
        </p:nvSpPr>
        <p:spPr>
          <a:xfrm>
            <a:off x="3314880" y="600300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9"/>
          <p:cNvSpPr/>
          <p:nvPr/>
        </p:nvSpPr>
        <p:spPr>
          <a:xfrm>
            <a:off x="1188720" y="1188720"/>
            <a:ext cx="1279800" cy="1279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" name="Image 0" descr="/home/claude/icons/fa_project_diagram.png"/>
          <p:cNvPicPr/>
          <p:nvPr/>
        </p:nvPicPr>
        <p:blipFill>
          <a:blip r:embed="rId3"/>
          <a:stretch/>
        </p:blipFill>
        <p:spPr>
          <a:xfrm>
            <a:off x="1517760" y="1517760"/>
            <a:ext cx="621360" cy="621360"/>
          </a:xfrm>
          <a:prstGeom prst="rect">
            <a:avLst/>
          </a:prstGeom>
          <a:ln w="0">
            <a:noFill/>
          </a:ln>
        </p:spPr>
      </p:pic>
      <p:sp>
        <p:nvSpPr>
          <p:cNvPr id="73" name="Text 20"/>
          <p:cNvSpPr/>
          <p:nvPr/>
        </p:nvSpPr>
        <p:spPr>
          <a:xfrm>
            <a:off x="365760" y="274320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Abstract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365760" y="324612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EAF2F8"/>
                </a:solidFill>
                <a:latin typeface="Calibri"/>
                <a:ea typeface="Calibri"/>
              </a:rPr>
              <a:t>A quick overview of what the project does and how.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4114800" y="1371600"/>
            <a:ext cx="74977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500" b="0" strike="noStrike" spc="-1" dirty="0">
                <a:solidFill>
                  <a:srgbClr val="1B2733"/>
                </a:solidFill>
                <a:latin typeface="Calibri"/>
                <a:ea typeface="Calibri"/>
              </a:rPr>
              <a:t>Alumni Connect is a </a:t>
            </a:r>
            <a:r>
              <a:rPr lang="en-US" sz="1500" b="1" strike="noStrike" spc="-1" dirty="0">
                <a:solidFill>
                  <a:srgbClr val="065A82"/>
                </a:solidFill>
                <a:latin typeface="Calibri"/>
                <a:ea typeface="Calibri"/>
              </a:rPr>
              <a:t>console-based Java application</a:t>
            </a:r>
            <a:r>
              <a:rPr lang="en-US" sz="1500" b="0" strike="noStrike" spc="-1" dirty="0">
                <a:solidFill>
                  <a:srgbClr val="1B2733"/>
                </a:solidFill>
                <a:latin typeface="Calibri"/>
                <a:ea typeface="Calibri"/>
              </a:rPr>
              <a:t> that helps current students locate and reach out to alumni for mentorship, referrals, and career guidance. 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500" b="0" strike="noStrike" spc="-1" dirty="0">
                <a:solidFill>
                  <a:srgbClr val="1B2733"/>
                </a:solidFill>
                <a:latin typeface="Calibri"/>
                <a:ea typeface="Calibri"/>
              </a:rPr>
              <a:t>Rather than relying on a database or graphical interface, the system stores alumni records in memory and applies </a:t>
            </a:r>
            <a:r>
              <a:rPr lang="en-US" sz="1500" b="1" strike="noStrike" spc="-1" dirty="0">
                <a:solidFill>
                  <a:srgbClr val="065A82"/>
                </a:solidFill>
                <a:latin typeface="Calibri"/>
                <a:ea typeface="Calibri"/>
              </a:rPr>
              <a:t>advanced data structures and algorithms</a:t>
            </a:r>
            <a:r>
              <a:rPr lang="en-US" sz="1500" b="0" strike="noStrike" spc="-1" dirty="0">
                <a:solidFill>
                  <a:srgbClr val="1B2733"/>
                </a:solidFill>
                <a:latin typeface="Calibri"/>
                <a:ea typeface="Calibri"/>
              </a:rPr>
              <a:t> — such as graphs, hashing, and efficient searching/sorting techniques — to organize and retrieve alumni profiles quickly. 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1B2733"/>
                </a:solidFill>
                <a:latin typeface="Calibri"/>
                <a:ea typeface="Calibri"/>
              </a:rPr>
              <a:t>Once a match is found, the application displays the alumnus's </a:t>
            </a:r>
            <a:r>
              <a:rPr lang="en-US" sz="1500" b="1" strike="noStrike" spc="-1" dirty="0">
                <a:solidFill>
                  <a:srgbClr val="065A82"/>
                </a:solidFill>
                <a:latin typeface="Calibri"/>
                <a:ea typeface="Calibri"/>
              </a:rPr>
              <a:t>email, phone number, and LinkedIn profile</a:t>
            </a:r>
            <a:r>
              <a:rPr lang="en-US" sz="1500" b="0" strike="noStrike" spc="-1" dirty="0">
                <a:solidFill>
                  <a:srgbClr val="1B2733"/>
                </a:solidFill>
                <a:latin typeface="Calibri"/>
                <a:ea typeface="Calibri"/>
              </a:rPr>
              <a:t>, enabling direct, meaningful networking.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4114800" y="55321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C7293"/>
                </a:solidFill>
                <a:latin typeface="Cambria"/>
                <a:ea typeface="Cambria"/>
              </a:rPr>
              <a:t>100%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4"/>
          <p:cNvSpPr/>
          <p:nvPr/>
        </p:nvSpPr>
        <p:spPr>
          <a:xfrm>
            <a:off x="4114800" y="605340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5B6B78"/>
                </a:solidFill>
                <a:latin typeface="Calibri"/>
                <a:ea typeface="Calibri"/>
              </a:rPr>
              <a:t>In-Memory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5B6B78"/>
                </a:solidFill>
                <a:latin typeface="Calibri"/>
                <a:ea typeface="Calibri"/>
              </a:rPr>
              <a:t>(No Database)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5"/>
          <p:cNvSpPr/>
          <p:nvPr/>
        </p:nvSpPr>
        <p:spPr>
          <a:xfrm>
            <a:off x="6720840" y="55321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C7293"/>
                </a:solidFill>
                <a:latin typeface="Cambria"/>
                <a:ea typeface="Cambria"/>
              </a:rPr>
              <a:t>0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6"/>
          <p:cNvSpPr/>
          <p:nvPr/>
        </p:nvSpPr>
        <p:spPr>
          <a:xfrm>
            <a:off x="6720840" y="605340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5B6B78"/>
                </a:solidFill>
                <a:latin typeface="Calibri"/>
                <a:ea typeface="Calibri"/>
              </a:rPr>
              <a:t>GUI Dependencies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5B6B78"/>
                </a:solidFill>
                <a:latin typeface="Calibri"/>
                <a:ea typeface="Calibri"/>
              </a:rPr>
              <a:t>(Pure Console I/O)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7"/>
          <p:cNvSpPr/>
          <p:nvPr/>
        </p:nvSpPr>
        <p:spPr>
          <a:xfrm>
            <a:off x="9326880" y="55321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C7293"/>
                </a:solidFill>
                <a:latin typeface="Cambria"/>
                <a:ea typeface="Cambria"/>
              </a:rPr>
              <a:t>3+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8"/>
          <p:cNvSpPr/>
          <p:nvPr/>
        </p:nvSpPr>
        <p:spPr>
          <a:xfrm>
            <a:off x="9326880" y="605340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5B6B78"/>
                </a:solidFill>
                <a:latin typeface="Calibri"/>
                <a:ea typeface="Calibri"/>
              </a:rPr>
              <a:t>Core DSA Concepts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5B6B78"/>
                </a:solidFill>
                <a:latin typeface="Calibri"/>
                <a:ea typeface="Calibri"/>
              </a:rPr>
              <a:t>Applied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640080" y="5029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21295C"/>
                </a:solidFill>
                <a:latin typeface="Cambria"/>
                <a:ea typeface="Cambria"/>
              </a:rPr>
              <a:t>Problem Statement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640080" y="1097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5B6B78"/>
                </a:solidFill>
                <a:latin typeface="Calibri"/>
                <a:ea typeface="Calibri"/>
              </a:rPr>
              <a:t>Why students struggle to connect with their alumni network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640080" y="1783080"/>
            <a:ext cx="10881000" cy="1298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0">
            <a:noFill/>
          </a:ln>
          <a:effectLst>
            <a:outerShdw blurRad="76320" dist="25560" dir="5400000" algn="bl" rotWithShape="0">
              <a:srgbClr val="1B2733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914400" y="211212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" name="Image 0" descr="/home/claude/icons/fa_exclamation.png"/>
          <p:cNvPicPr/>
          <p:nvPr/>
        </p:nvPicPr>
        <p:blipFill>
          <a:blip r:embed="rId3"/>
          <a:stretch/>
        </p:blipFill>
        <p:spPr>
          <a:xfrm>
            <a:off x="1083600" y="228132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87" name="Text 4"/>
          <p:cNvSpPr/>
          <p:nvPr/>
        </p:nvSpPr>
        <p:spPr>
          <a:xfrm>
            <a:off x="1783080" y="191124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1295C"/>
                </a:solidFill>
                <a:latin typeface="Calibri"/>
                <a:ea typeface="Calibri"/>
              </a:rPr>
              <a:t>Fragmented, Informal Channels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1783080" y="2295000"/>
            <a:ext cx="94636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B6B78"/>
                </a:solidFill>
                <a:latin typeface="Calibri"/>
                <a:ea typeface="Calibri"/>
              </a:rPr>
              <a:t>Alumni contact information is scattered across social media, personal referrals, and outdated spreadsheets, with no single reliable source.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640080" y="3291840"/>
            <a:ext cx="10881000" cy="1298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0">
            <a:noFill/>
          </a:ln>
          <a:effectLst>
            <a:outerShdw blurRad="76320" dist="25560" dir="5400000" algn="bl" rotWithShape="0">
              <a:srgbClr val="1B2733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914400" y="362088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Image 1" descr="/home/claude/icons/fa_search.png"/>
          <p:cNvPicPr/>
          <p:nvPr/>
        </p:nvPicPr>
        <p:blipFill>
          <a:blip r:embed="rId4"/>
          <a:stretch/>
        </p:blipFill>
        <p:spPr>
          <a:xfrm>
            <a:off x="1083600" y="379008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92" name="Text 8"/>
          <p:cNvSpPr/>
          <p:nvPr/>
        </p:nvSpPr>
        <p:spPr>
          <a:xfrm>
            <a:off x="1783080" y="342000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1295C"/>
                </a:solidFill>
                <a:latin typeface="Calibri"/>
                <a:ea typeface="Calibri"/>
              </a:rPr>
              <a:t>No Fast, Structured Way to Search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1783080" y="3803760"/>
            <a:ext cx="94636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B6B78"/>
                </a:solidFill>
                <a:latin typeface="Calibri"/>
                <a:ea typeface="Calibri"/>
              </a:rPr>
              <a:t>Students have no quick way to filter alumni by branch, batch, company, or skill set to find the right person to reach out to.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0"/>
          <p:cNvSpPr/>
          <p:nvPr/>
        </p:nvSpPr>
        <p:spPr>
          <a:xfrm>
            <a:off x="640080" y="4800600"/>
            <a:ext cx="10881000" cy="1298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0">
            <a:noFill/>
          </a:ln>
          <a:effectLst>
            <a:outerShdw blurRad="76320" dist="25560" dir="5400000" algn="bl" rotWithShape="0">
              <a:srgbClr val="1B2733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914400" y="5129640"/>
            <a:ext cx="639720" cy="63972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Image 2" descr="/home/claude/icons/fa_users.png"/>
          <p:cNvPicPr/>
          <p:nvPr/>
        </p:nvPicPr>
        <p:blipFill>
          <a:blip r:embed="rId5"/>
          <a:stretch/>
        </p:blipFill>
        <p:spPr>
          <a:xfrm>
            <a:off x="1083600" y="529884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97" name="Text 12"/>
          <p:cNvSpPr/>
          <p:nvPr/>
        </p:nvSpPr>
        <p:spPr>
          <a:xfrm>
            <a:off x="1783080" y="4928760"/>
            <a:ext cx="9417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1295C"/>
                </a:solidFill>
                <a:latin typeface="Calibri"/>
                <a:ea typeface="Calibri"/>
              </a:rPr>
              <a:t>Missed Mentorship &amp; Referral Opportunities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1783080" y="5312520"/>
            <a:ext cx="94636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5B6B78"/>
                </a:solidFill>
                <a:latin typeface="Calibri"/>
                <a:ea typeface="Calibri"/>
              </a:rPr>
              <a:t>Without an efficient lookup system, valuable connections for internships, jobs, and guidance are frequently missed.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640080" y="4572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21295C"/>
                </a:solidFill>
                <a:latin typeface="Cambria"/>
                <a:ea typeface="Cambria"/>
              </a:rPr>
              <a:t>Key Features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640080" y="1033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5B6B78"/>
                </a:solidFill>
                <a:latin typeface="Calibri"/>
                <a:ea typeface="Calibri"/>
              </a:rPr>
              <a:t>Core capabilities built on classic and advanced DSA concepts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2"/>
          <p:cNvSpPr/>
          <p:nvPr/>
        </p:nvSpPr>
        <p:spPr>
          <a:xfrm>
            <a:off x="640080" y="1691640"/>
            <a:ext cx="3501720" cy="2148480"/>
          </a:xfrm>
          <a:prstGeom prst="roundRect">
            <a:avLst>
              <a:gd name="adj" fmla="val 3830"/>
            </a:avLst>
          </a:prstGeom>
          <a:solidFill>
            <a:srgbClr val="EAF2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896040" y="1929240"/>
            <a:ext cx="566640" cy="5666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" name="Image 0" descr="/home/claude/icons/fa_sitemap.png"/>
          <p:cNvPicPr/>
          <p:nvPr/>
        </p:nvPicPr>
        <p:blipFill>
          <a:blip r:embed="rId3"/>
          <a:stretch/>
        </p:blipFill>
        <p:spPr>
          <a:xfrm>
            <a:off x="1033200" y="20664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04" name="Text 4"/>
          <p:cNvSpPr/>
          <p:nvPr/>
        </p:nvSpPr>
        <p:spPr>
          <a:xfrm>
            <a:off x="896040" y="2606040"/>
            <a:ext cx="298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1295C"/>
                </a:solidFill>
                <a:latin typeface="Calibri"/>
                <a:ea typeface="Calibri"/>
              </a:rPr>
              <a:t>Graph-Based Alumni Network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896040" y="3044880"/>
            <a:ext cx="2989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strike="noStrike" spc="-1">
                <a:solidFill>
                  <a:srgbClr val="5B6B78"/>
                </a:solidFill>
                <a:latin typeface="Calibri"/>
                <a:ea typeface="Calibri"/>
              </a:rPr>
              <a:t>Models alumni &amp; connections as a graph; uses BFS/DFS to explore relationships and mutual connections.</a:t>
            </a:r>
            <a:endParaRPr lang="en-US" sz="10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4361760" y="1691640"/>
            <a:ext cx="3501720" cy="2148480"/>
          </a:xfrm>
          <a:prstGeom prst="roundRect">
            <a:avLst>
              <a:gd name="adj" fmla="val 3830"/>
            </a:avLst>
          </a:prstGeom>
          <a:solidFill>
            <a:srgbClr val="EAF2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7"/>
          <p:cNvSpPr/>
          <p:nvPr/>
        </p:nvSpPr>
        <p:spPr>
          <a:xfrm>
            <a:off x="4617720" y="1929240"/>
            <a:ext cx="566640" cy="5666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1" descr="/home/claude/icons/fa_search.png"/>
          <p:cNvPicPr/>
          <p:nvPr/>
        </p:nvPicPr>
        <p:blipFill>
          <a:blip r:embed="rId4"/>
          <a:stretch/>
        </p:blipFill>
        <p:spPr>
          <a:xfrm>
            <a:off x="4754880" y="20664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09" name="Text 8"/>
          <p:cNvSpPr/>
          <p:nvPr/>
        </p:nvSpPr>
        <p:spPr>
          <a:xfrm>
            <a:off x="4617720" y="2606040"/>
            <a:ext cx="298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1295C"/>
                </a:solidFill>
                <a:latin typeface="Calibri"/>
                <a:ea typeface="Calibri"/>
              </a:rPr>
              <a:t>Fast Multi-Criteria Search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4617720" y="3044880"/>
            <a:ext cx="2989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strike="noStrike" spc="-1">
                <a:solidFill>
                  <a:srgbClr val="5B6B78"/>
                </a:solidFill>
                <a:latin typeface="Calibri"/>
                <a:ea typeface="Calibri"/>
              </a:rPr>
              <a:t>Efficient searching/sorting (e.g. binary search on sorted records) to filter alumni by name, branch, batch, or company.</a:t>
            </a:r>
            <a:endParaRPr lang="en-US" sz="10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8083440" y="1691640"/>
            <a:ext cx="3501720" cy="2148480"/>
          </a:xfrm>
          <a:prstGeom prst="roundRect">
            <a:avLst>
              <a:gd name="adj" fmla="val 3830"/>
            </a:avLst>
          </a:prstGeom>
          <a:solidFill>
            <a:srgbClr val="EAF2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8339400" y="1929240"/>
            <a:ext cx="566640" cy="5666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" name="Image 2" descr="/home/claude/icons/fa_project_diagram.png"/>
          <p:cNvPicPr/>
          <p:nvPr/>
        </p:nvPicPr>
        <p:blipFill>
          <a:blip r:embed="rId5"/>
          <a:stretch/>
        </p:blipFill>
        <p:spPr>
          <a:xfrm>
            <a:off x="8476560" y="20664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14" name="Text 12"/>
          <p:cNvSpPr/>
          <p:nvPr/>
        </p:nvSpPr>
        <p:spPr>
          <a:xfrm>
            <a:off x="8339400" y="2606040"/>
            <a:ext cx="298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1295C"/>
                </a:solidFill>
                <a:latin typeface="Calibri"/>
                <a:ea typeface="Calibri"/>
              </a:rPr>
              <a:t>Optimized Data Structures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8339400" y="3044880"/>
            <a:ext cx="2989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strike="noStrike" spc="-1">
                <a:solidFill>
                  <a:srgbClr val="5B6B78"/>
                </a:solidFill>
                <a:latin typeface="Calibri"/>
                <a:ea typeface="Calibri"/>
              </a:rPr>
              <a:t>Hash maps, trees, and lists organize thousands of records for near-instant lookup and traversal.</a:t>
            </a:r>
            <a:endParaRPr lang="en-US" sz="10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640080" y="4096440"/>
            <a:ext cx="3501720" cy="2148480"/>
          </a:xfrm>
          <a:prstGeom prst="roundRect">
            <a:avLst>
              <a:gd name="adj" fmla="val 3830"/>
            </a:avLst>
          </a:prstGeom>
          <a:solidFill>
            <a:srgbClr val="EAF2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896040" y="4334400"/>
            <a:ext cx="566640" cy="5666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 3" descr="/home/claude/icons/fa_address_book.png"/>
          <p:cNvPicPr/>
          <p:nvPr/>
        </p:nvPicPr>
        <p:blipFill>
          <a:blip r:embed="rId6"/>
          <a:stretch/>
        </p:blipFill>
        <p:spPr>
          <a:xfrm>
            <a:off x="1033200" y="44715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19" name="Text 16"/>
          <p:cNvSpPr/>
          <p:nvPr/>
        </p:nvSpPr>
        <p:spPr>
          <a:xfrm>
            <a:off x="896040" y="5010840"/>
            <a:ext cx="298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1295C"/>
                </a:solidFill>
                <a:latin typeface="Calibri"/>
                <a:ea typeface="Calibri"/>
              </a:rPr>
              <a:t>Contact Detail Display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7"/>
          <p:cNvSpPr/>
          <p:nvPr/>
        </p:nvSpPr>
        <p:spPr>
          <a:xfrm>
            <a:off x="896040" y="5449680"/>
            <a:ext cx="2989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strike="noStrike" spc="-1">
                <a:solidFill>
                  <a:srgbClr val="5B6B78"/>
                </a:solidFill>
                <a:latin typeface="Calibri"/>
                <a:ea typeface="Calibri"/>
              </a:rPr>
              <a:t>Presents matched alumni's email, phone number, and LinkedIn profile directly in the console.</a:t>
            </a:r>
            <a:endParaRPr lang="en-US" sz="10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8"/>
          <p:cNvSpPr/>
          <p:nvPr/>
        </p:nvSpPr>
        <p:spPr>
          <a:xfrm>
            <a:off x="4361760" y="4096440"/>
            <a:ext cx="3501720" cy="2148480"/>
          </a:xfrm>
          <a:prstGeom prst="roundRect">
            <a:avLst>
              <a:gd name="adj" fmla="val 3830"/>
            </a:avLst>
          </a:prstGeom>
          <a:solidFill>
            <a:srgbClr val="EAF2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9"/>
          <p:cNvSpPr/>
          <p:nvPr/>
        </p:nvSpPr>
        <p:spPr>
          <a:xfrm>
            <a:off x="4617720" y="4334400"/>
            <a:ext cx="566640" cy="5666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Image 4" descr="/home/claude/icons/fa_terminal.png"/>
          <p:cNvPicPr/>
          <p:nvPr/>
        </p:nvPicPr>
        <p:blipFill>
          <a:blip r:embed="rId7"/>
          <a:stretch/>
        </p:blipFill>
        <p:spPr>
          <a:xfrm>
            <a:off x="4754880" y="44715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24" name="Text 20"/>
          <p:cNvSpPr/>
          <p:nvPr/>
        </p:nvSpPr>
        <p:spPr>
          <a:xfrm>
            <a:off x="4617720" y="5010840"/>
            <a:ext cx="298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1295C"/>
                </a:solidFill>
                <a:latin typeface="Calibri"/>
                <a:ea typeface="Calibri"/>
              </a:rPr>
              <a:t>Lightweight Console Interface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21"/>
          <p:cNvSpPr/>
          <p:nvPr/>
        </p:nvSpPr>
        <p:spPr>
          <a:xfrm>
            <a:off x="4617720" y="5449680"/>
            <a:ext cx="2989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strike="noStrike" spc="-1">
                <a:solidFill>
                  <a:srgbClr val="5B6B78"/>
                </a:solidFill>
                <a:latin typeface="Calibri"/>
                <a:ea typeface="Calibri"/>
              </a:rPr>
              <a:t>Simple menu-driven CLI in Java — fast, portable, and free of GUI or database overhead.</a:t>
            </a:r>
            <a:endParaRPr lang="en-US" sz="108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22"/>
          <p:cNvSpPr/>
          <p:nvPr/>
        </p:nvSpPr>
        <p:spPr>
          <a:xfrm>
            <a:off x="8083440" y="4096440"/>
            <a:ext cx="3501720" cy="2148480"/>
          </a:xfrm>
          <a:prstGeom prst="roundRect">
            <a:avLst>
              <a:gd name="adj" fmla="val 3830"/>
            </a:avLst>
          </a:prstGeom>
          <a:solidFill>
            <a:srgbClr val="EAF2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23"/>
          <p:cNvSpPr/>
          <p:nvPr/>
        </p:nvSpPr>
        <p:spPr>
          <a:xfrm>
            <a:off x="8339400" y="4334400"/>
            <a:ext cx="566640" cy="5666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8" name="Image 5" descr="/home/claude/icons/fa_java.png"/>
          <p:cNvPicPr/>
          <p:nvPr/>
        </p:nvPicPr>
        <p:blipFill>
          <a:blip r:embed="rId8"/>
          <a:stretch/>
        </p:blipFill>
        <p:spPr>
          <a:xfrm>
            <a:off x="8476560" y="447156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29" name="Text 24"/>
          <p:cNvSpPr/>
          <p:nvPr/>
        </p:nvSpPr>
        <p:spPr>
          <a:xfrm>
            <a:off x="8339400" y="5010840"/>
            <a:ext cx="2989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1295C"/>
                </a:solidFill>
                <a:latin typeface="Calibri"/>
                <a:ea typeface="Calibri"/>
              </a:rPr>
              <a:t>Pure Java Implementation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5"/>
          <p:cNvSpPr/>
          <p:nvPr/>
        </p:nvSpPr>
        <p:spPr>
          <a:xfrm>
            <a:off x="8339400" y="5449680"/>
            <a:ext cx="29898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80" b="0" strike="noStrike" spc="-1">
                <a:solidFill>
                  <a:srgbClr val="5B6B78"/>
                </a:solidFill>
                <a:latin typeface="Calibri"/>
                <a:ea typeface="Calibri"/>
              </a:rPr>
              <a:t>Built entirely with core Java and in-memory collections — no external frameworks or dependencies.</a:t>
            </a:r>
            <a:endParaRPr lang="en-US" sz="108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640080" y="5029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21295C"/>
                </a:solidFill>
                <a:latin typeface="Cambria"/>
                <a:ea typeface="Cambria"/>
              </a:rPr>
              <a:t>Future Enhancements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640080" y="10972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5B6B78"/>
                </a:solidFill>
                <a:latin typeface="Calibri"/>
                <a:ea typeface="Calibri"/>
              </a:rPr>
              <a:t>Where Alumni Connect can go beyond this console prototype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640080" y="1737360"/>
            <a:ext cx="5257440" cy="19656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0">
            <a:noFill/>
          </a:ln>
          <a:effectLst>
            <a:outerShdw blurRad="76320" dist="25560" dir="5400000" algn="bl" rotWithShape="0">
              <a:srgbClr val="1B2733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914400" y="20116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5" name="Image 0" descr="/home/claude/icons/fa_database.png"/>
          <p:cNvPicPr/>
          <p:nvPr/>
        </p:nvPicPr>
        <p:blipFill>
          <a:blip r:embed="rId3"/>
          <a:stretch/>
        </p:blipFill>
        <p:spPr>
          <a:xfrm>
            <a:off x="1051560" y="21488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36" name="Text 4"/>
          <p:cNvSpPr/>
          <p:nvPr/>
        </p:nvSpPr>
        <p:spPr>
          <a:xfrm>
            <a:off x="1645920" y="19386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1295C"/>
                </a:solidFill>
                <a:latin typeface="Calibri"/>
                <a:ea typeface="Calibri"/>
              </a:rPr>
              <a:t>Persistent Database Integration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1645920" y="2450520"/>
            <a:ext cx="40230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B6B78"/>
                </a:solidFill>
                <a:latin typeface="Calibri"/>
                <a:ea typeface="Calibri"/>
              </a:rPr>
              <a:t>Move from in-memory storage to a database (SQL/NoSQL) for durable, larger-scale alumni records.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6263640" y="1737360"/>
            <a:ext cx="5257440" cy="19656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0">
            <a:noFill/>
          </a:ln>
          <a:effectLst>
            <a:outerShdw blurRad="76320" dist="25560" dir="5400000" algn="bl" rotWithShape="0">
              <a:srgbClr val="1B2733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7"/>
          <p:cNvSpPr/>
          <p:nvPr/>
        </p:nvSpPr>
        <p:spPr>
          <a:xfrm>
            <a:off x="6537960" y="20116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0" name="Image 1" descr="/home/claude/icons/fa_desktop.png"/>
          <p:cNvPicPr/>
          <p:nvPr/>
        </p:nvPicPr>
        <p:blipFill>
          <a:blip r:embed="rId4"/>
          <a:stretch/>
        </p:blipFill>
        <p:spPr>
          <a:xfrm>
            <a:off x="6675120" y="21488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41" name="Text 8"/>
          <p:cNvSpPr/>
          <p:nvPr/>
        </p:nvSpPr>
        <p:spPr>
          <a:xfrm>
            <a:off x="7269480" y="19386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1295C"/>
                </a:solidFill>
                <a:latin typeface="Calibri"/>
                <a:ea typeface="Calibri"/>
              </a:rPr>
              <a:t>GUI / Web Interface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269480" y="2450520"/>
            <a:ext cx="40230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B6B78"/>
                </a:solidFill>
                <a:latin typeface="Calibri"/>
                <a:ea typeface="Calibri"/>
              </a:rPr>
              <a:t>Add a desktop or web front-end so users can search and browse visually instead of via the console.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640080" y="4023360"/>
            <a:ext cx="5257440" cy="19656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0">
            <a:noFill/>
          </a:ln>
          <a:effectLst>
            <a:outerShdw blurRad="76320" dist="25560" dir="5400000" algn="bl" rotWithShape="0">
              <a:srgbClr val="1B2733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914400" y="42976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5" name="Image 2" descr="/home/claude/icons/fa_cloud.png"/>
          <p:cNvPicPr/>
          <p:nvPr/>
        </p:nvPicPr>
        <p:blipFill>
          <a:blip r:embed="rId5"/>
          <a:stretch/>
        </p:blipFill>
        <p:spPr>
          <a:xfrm>
            <a:off x="1051560" y="44348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46" name="Text 12"/>
          <p:cNvSpPr/>
          <p:nvPr/>
        </p:nvSpPr>
        <p:spPr>
          <a:xfrm>
            <a:off x="1645920" y="42246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1295C"/>
                </a:solidFill>
                <a:latin typeface="Calibri"/>
                <a:ea typeface="Calibri"/>
              </a:rPr>
              <a:t>Cloud Hosting &amp; Sync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1645920" y="4736520"/>
            <a:ext cx="40230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B6B78"/>
                </a:solidFill>
                <a:latin typeface="Calibri"/>
                <a:ea typeface="Calibri"/>
              </a:rPr>
              <a:t>Host the platform in the cloud so it stays updated in real time as alumni data changes.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6263640" y="4023360"/>
            <a:ext cx="5257440" cy="19656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0">
            <a:noFill/>
          </a:ln>
          <a:effectLst>
            <a:outerShdw blurRad="76320" dist="25560" dir="5400000" algn="bl" rotWithShape="0">
              <a:srgbClr val="1B2733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5"/>
          <p:cNvSpPr/>
          <p:nvPr/>
        </p:nvSpPr>
        <p:spPr>
          <a:xfrm>
            <a:off x="6537960" y="4297680"/>
            <a:ext cx="566640" cy="56664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" name="Image 3" descr="/home/claude/icons/fa_mobile.png"/>
          <p:cNvPicPr/>
          <p:nvPr/>
        </p:nvPicPr>
        <p:blipFill>
          <a:blip r:embed="rId6"/>
          <a:stretch/>
        </p:blipFill>
        <p:spPr>
          <a:xfrm>
            <a:off x="6675120" y="44348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51" name="Text 16"/>
          <p:cNvSpPr/>
          <p:nvPr/>
        </p:nvSpPr>
        <p:spPr>
          <a:xfrm>
            <a:off x="7269480" y="4224600"/>
            <a:ext cx="4023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1295C"/>
                </a:solidFill>
                <a:latin typeface="Calibri"/>
                <a:ea typeface="Calibri"/>
              </a:rPr>
              <a:t>Mobile App Access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7269480" y="4736520"/>
            <a:ext cx="40230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5B6B78"/>
                </a:solidFill>
                <a:latin typeface="Calibri"/>
                <a:ea typeface="Calibri"/>
              </a:rPr>
              <a:t>Bring Alumni Connect to Android/iOS for on-the-go networking and notifications.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 flipV="1">
            <a:off x="-356400" y="4658760"/>
            <a:ext cx="959760" cy="105624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-356400" y="5715000"/>
            <a:ext cx="959760" cy="105588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603360" y="4658760"/>
            <a:ext cx="960120" cy="90504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 flipV="1">
            <a:off x="603360" y="5563800"/>
            <a:ext cx="960120" cy="120708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4"/>
          <p:cNvSpPr/>
          <p:nvPr/>
        </p:nvSpPr>
        <p:spPr>
          <a:xfrm flipV="1">
            <a:off x="1563480" y="4507920"/>
            <a:ext cx="883440" cy="105588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>
            <a:off x="1563480" y="5563800"/>
            <a:ext cx="883440" cy="30204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6"/>
          <p:cNvSpPr/>
          <p:nvPr/>
        </p:nvSpPr>
        <p:spPr>
          <a:xfrm>
            <a:off x="2446920" y="4507920"/>
            <a:ext cx="844920" cy="60336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 flipV="1">
            <a:off x="2446920" y="5111280"/>
            <a:ext cx="844920" cy="75456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2446920" y="5865840"/>
            <a:ext cx="844920" cy="90504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9"/>
          <p:cNvSpPr/>
          <p:nvPr/>
        </p:nvSpPr>
        <p:spPr>
          <a:xfrm>
            <a:off x="3291840" y="5111280"/>
            <a:ext cx="360" cy="16596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-425160" y="564660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534960" y="459036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12"/>
          <p:cNvSpPr/>
          <p:nvPr/>
        </p:nvSpPr>
        <p:spPr>
          <a:xfrm>
            <a:off x="534960" y="67024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13"/>
          <p:cNvSpPr/>
          <p:nvPr/>
        </p:nvSpPr>
        <p:spPr>
          <a:xfrm>
            <a:off x="1463040" y="5463720"/>
            <a:ext cx="200880" cy="200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4"/>
          <p:cNvSpPr/>
          <p:nvPr/>
        </p:nvSpPr>
        <p:spPr>
          <a:xfrm>
            <a:off x="2378520" y="443952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15"/>
          <p:cNvSpPr/>
          <p:nvPr/>
        </p:nvSpPr>
        <p:spPr>
          <a:xfrm>
            <a:off x="2378520" y="579744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6"/>
          <p:cNvSpPr/>
          <p:nvPr/>
        </p:nvSpPr>
        <p:spPr>
          <a:xfrm>
            <a:off x="3191400" y="5010840"/>
            <a:ext cx="200880" cy="200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17"/>
          <p:cNvSpPr/>
          <p:nvPr/>
        </p:nvSpPr>
        <p:spPr>
          <a:xfrm>
            <a:off x="3223440" y="67024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18"/>
          <p:cNvSpPr/>
          <p:nvPr/>
        </p:nvSpPr>
        <p:spPr>
          <a:xfrm flipV="1">
            <a:off x="8974800" y="-4320"/>
            <a:ext cx="982800" cy="105588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Shape 19"/>
          <p:cNvSpPr/>
          <p:nvPr/>
        </p:nvSpPr>
        <p:spPr>
          <a:xfrm>
            <a:off x="8974800" y="1051560"/>
            <a:ext cx="982800" cy="105588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20"/>
          <p:cNvSpPr/>
          <p:nvPr/>
        </p:nvSpPr>
        <p:spPr>
          <a:xfrm>
            <a:off x="9957600" y="-4320"/>
            <a:ext cx="983160" cy="90468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Shape 21"/>
          <p:cNvSpPr/>
          <p:nvPr/>
        </p:nvSpPr>
        <p:spPr>
          <a:xfrm flipV="1">
            <a:off x="9957600" y="900360"/>
            <a:ext cx="983160" cy="120708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22"/>
          <p:cNvSpPr/>
          <p:nvPr/>
        </p:nvSpPr>
        <p:spPr>
          <a:xfrm flipV="1">
            <a:off x="10940760" y="-155160"/>
            <a:ext cx="904320" cy="105552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23"/>
          <p:cNvSpPr/>
          <p:nvPr/>
        </p:nvSpPr>
        <p:spPr>
          <a:xfrm>
            <a:off x="10940760" y="900360"/>
            <a:ext cx="904320" cy="30204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24"/>
          <p:cNvSpPr/>
          <p:nvPr/>
        </p:nvSpPr>
        <p:spPr>
          <a:xfrm>
            <a:off x="11845080" y="-155160"/>
            <a:ext cx="865080" cy="6030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25"/>
          <p:cNvSpPr/>
          <p:nvPr/>
        </p:nvSpPr>
        <p:spPr>
          <a:xfrm flipV="1">
            <a:off x="11845080" y="447840"/>
            <a:ext cx="865080" cy="75456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26"/>
          <p:cNvSpPr/>
          <p:nvPr/>
        </p:nvSpPr>
        <p:spPr>
          <a:xfrm>
            <a:off x="11845080" y="1202400"/>
            <a:ext cx="865080" cy="90504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27"/>
          <p:cNvSpPr/>
          <p:nvPr/>
        </p:nvSpPr>
        <p:spPr>
          <a:xfrm>
            <a:off x="12710160" y="447840"/>
            <a:ext cx="360" cy="1659600"/>
          </a:xfrm>
          <a:prstGeom prst="line">
            <a:avLst/>
          </a:prstGeom>
          <a:ln w="15875">
            <a:solidFill>
              <a:srgbClr val="1C7293">
                <a:alpha val="7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8"/>
          <p:cNvSpPr/>
          <p:nvPr/>
        </p:nvSpPr>
        <p:spPr>
          <a:xfrm>
            <a:off x="8906400" y="98316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29"/>
          <p:cNvSpPr/>
          <p:nvPr/>
        </p:nvSpPr>
        <p:spPr>
          <a:xfrm>
            <a:off x="9889200" y="-7308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30"/>
          <p:cNvSpPr/>
          <p:nvPr/>
        </p:nvSpPr>
        <p:spPr>
          <a:xfrm>
            <a:off x="9889200" y="203904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31"/>
          <p:cNvSpPr/>
          <p:nvPr/>
        </p:nvSpPr>
        <p:spPr>
          <a:xfrm>
            <a:off x="10840320" y="800280"/>
            <a:ext cx="200880" cy="200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32"/>
          <p:cNvSpPr/>
          <p:nvPr/>
        </p:nvSpPr>
        <p:spPr>
          <a:xfrm>
            <a:off x="11776680" y="-22392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33"/>
          <p:cNvSpPr/>
          <p:nvPr/>
        </p:nvSpPr>
        <p:spPr>
          <a:xfrm>
            <a:off x="11776680" y="113400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34"/>
          <p:cNvSpPr/>
          <p:nvPr/>
        </p:nvSpPr>
        <p:spPr>
          <a:xfrm>
            <a:off x="12609720" y="347400"/>
            <a:ext cx="200880" cy="200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Shape 35"/>
          <p:cNvSpPr/>
          <p:nvPr/>
        </p:nvSpPr>
        <p:spPr>
          <a:xfrm>
            <a:off x="12641760" y="2039040"/>
            <a:ext cx="136800" cy="136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36"/>
          <p:cNvSpPr/>
          <p:nvPr/>
        </p:nvSpPr>
        <p:spPr>
          <a:xfrm>
            <a:off x="5358240" y="1554480"/>
            <a:ext cx="1462680" cy="14626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0" name="Image 0" descr="/home/claude/icons/fa_graduation.png"/>
          <p:cNvPicPr/>
          <p:nvPr/>
        </p:nvPicPr>
        <p:blipFill>
          <a:blip r:embed="rId3"/>
          <a:stretch/>
        </p:blipFill>
        <p:spPr>
          <a:xfrm>
            <a:off x="5742360" y="1938600"/>
            <a:ext cx="694440" cy="694440"/>
          </a:xfrm>
          <a:prstGeom prst="rect">
            <a:avLst/>
          </a:prstGeom>
          <a:ln w="0">
            <a:noFill/>
          </a:ln>
        </p:spPr>
      </p:pic>
      <p:sp>
        <p:nvSpPr>
          <p:cNvPr id="191" name="Text 37"/>
          <p:cNvSpPr/>
          <p:nvPr/>
        </p:nvSpPr>
        <p:spPr>
          <a:xfrm>
            <a:off x="0" y="3246120"/>
            <a:ext cx="121885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rgbClr val="FFFFFF"/>
                </a:solidFill>
                <a:latin typeface="Cambria"/>
                <a:ea typeface="Cambria"/>
              </a:rPr>
              <a:t>Thank You</a:t>
            </a:r>
            <a:endParaRPr lang="en-US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8"/>
          <p:cNvSpPr/>
          <p:nvPr/>
        </p:nvSpPr>
        <p:spPr>
          <a:xfrm>
            <a:off x="0" y="4023360"/>
            <a:ext cx="121885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39"/>
          <p:cNvSpPr/>
          <p:nvPr/>
        </p:nvSpPr>
        <p:spPr>
          <a:xfrm>
            <a:off x="6053400" y="4709160"/>
            <a:ext cx="82080" cy="82080"/>
          </a:xfrm>
          <a:prstGeom prst="ellipse">
            <a:avLst/>
          </a:prstGeom>
          <a:solidFill>
            <a:srgbClr val="F2A54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40"/>
          <p:cNvSpPr/>
          <p:nvPr/>
        </p:nvSpPr>
        <p:spPr>
          <a:xfrm>
            <a:off x="0" y="6309360"/>
            <a:ext cx="12188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C7293"/>
                </a:solidFill>
                <a:latin typeface="Calibri"/>
                <a:ea typeface="Calibri"/>
              </a:rPr>
              <a:t>Alumni Connect  •  B.Tech DSA-III Project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538</Words>
  <Application>Microsoft Office PowerPoint</Application>
  <PresentationFormat>Widescreen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Cambria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vida Reddy</cp:lastModifiedBy>
  <cp:revision>2</cp:revision>
  <dcterms:modified xsi:type="dcterms:W3CDTF">2026-08-07T14:49:46Z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2026-08-06T12:18:44Z</dcterms:created>
  <dc:creator>PptxGenJS</dc:creator>
  <dc:description/>
  <dc:language>en-US</dc:language>
  <cp:lastModifiedBy>PptxGenJS</cp:lastModifiedBy>
  <dcterms:modified xsi:type="dcterms:W3CDTF">2026-08-06T12:18:44Z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On-screen Show (16:9)</vt:lpwstr>
  </property>
  <property fmtid="{D5CDD505-2E9C-101B-9397-08002B2CF9AE}" pid="4" name="Slides">
    <vt:r8>6</vt:r8>
  </property>
</Properties>
</file>